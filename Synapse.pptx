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8" r:id="rId13"/>
    <p:sldId id="267" r:id="rId14"/>
    <p:sldId id="269" r:id="rId15"/>
    <p:sldId id="270" r:id="rId16"/>
    <p:sldId id="272" r:id="rId17"/>
    <p:sldId id="273" r:id="rId18"/>
    <p:sldId id="275" r:id="rId19"/>
    <p:sldId id="276" r:id="rId20"/>
    <p:sldId id="277" r:id="rId21"/>
    <p:sldId id="271" r:id="rId22"/>
    <p:sldId id="278" r:id="rId23"/>
    <p:sldId id="279" r:id="rId24"/>
    <p:sldId id="280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C168-F56B-7CC6-2408-A625BEC9F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23028-A706-498D-50B2-D3F7995C5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54516-9077-D062-A4E5-036F2A0F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FCEEE-EE52-BAE4-E94D-B92A993E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3433-18D8-BB80-3E4F-94E62FF8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8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38B4-EE47-22AE-3772-16BA266F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F236-28F8-DBA6-CE4F-8A07F3097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2D0D-9FEC-4BC9-EE7A-A0995B93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2113C-9A6C-F6F5-6BF8-DBE6248D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0018E-CCBA-9966-6AA0-D56DE2F6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14E6-539A-85E9-9A24-2E689B13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3B01D-D0B4-2664-DE02-904F39182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FE5B2-BFAE-983D-5035-AA7D5AB0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4107-4A6C-8056-8D1C-D30FE1C39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8AC26-74F9-1240-3C26-DFAF88EF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5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CD78-2507-1C6D-35E3-41307E34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2D46-ADA5-B2C0-12E3-E8A02FE3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51323-C0CC-180F-8E90-F78086FBA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D9911-84DB-D141-D153-FC753237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42511-E427-BD78-9928-D3CABFDD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A19B7-8B8B-399A-5B3C-76BC1625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9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8255-2181-16D8-3A37-2EB6D7AF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45925-338D-0111-EC3D-1F37041BB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26232-A0D5-BBB7-844C-01BB05395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ED31A-00DD-7632-341F-3BE9D6A5F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833A0-660D-966F-519E-01149ECE8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9540D1-DD6A-A779-7F4F-F40830F3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B6AA4-F547-57FC-D144-BE009913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F44F3-1484-7431-EEC2-6864F31B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2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0F2E-6C07-03BA-6397-17CEB5D9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99B22-A440-3E3C-A2D5-8BF87E9D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F6BB4-105E-39A5-CA5E-7BA3F534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2BAAD-3229-6B59-CD38-DCD7B9E4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34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2669A-8F1E-F082-F4BE-DAC90CE5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D465B-9D2E-4424-2FA7-DC23D6B9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C5052-0F48-8C58-2656-1B15F6E9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2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8447-1382-65BC-1A37-799DDE2A2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C092F-C3B5-709F-692F-C76C2E78E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713EA-590C-D0EC-0A66-01D61407B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058F7-8154-C6EB-32A7-1EC671FA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D6A67-2BAB-55E2-C578-AF4CAC9A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8A31D-B612-C1C3-2FC6-B8589ABC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3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4252-51B3-E198-D67C-852542FB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35476-54E3-4D89-F6EE-E95FB6CDD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6379A-3307-41BB-01D9-3920BA9A8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4CC50-4AD1-B21D-7A89-3F926BC7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8CAF0-4338-FEAA-29D9-388921F9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11C0D-AA05-4BC7-96D3-829D5C93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368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3AE-79E3-D024-0FCE-0FF1C99B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E2451-3E2D-B3AA-C3F8-1E92ED579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0FF9-224C-352B-7C69-E75CABA6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8C31-4B06-D2B9-9DEB-E9AE4F3B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4347-33D3-B49E-453C-E119C4D9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4CA6C-B57D-A671-2752-A0EA6F0A3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30505-4993-4A66-8CEA-4EE554234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9CA82-B6A8-781E-E868-0EAEA905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4ED9B-7E11-CB3C-3326-96152563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7C8AE-E53D-5DC1-2EFA-56746DC1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8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B42BB-F920-E645-5B2A-B4563BBD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6BB67-F7BC-48EA-C5FC-CBD08AAB9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0A233-8687-E733-1729-829007E17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2BDD3-93D0-4ABA-A8E4-A5DE7E43B187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23DC9-9B84-155C-2874-DE934FB6D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8CE63-2C51-B5DB-EB3F-0F1C26FBE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97F83-B60A-43C3-A6D9-9C285B45BF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62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9EBF-B704-0253-EA23-2CE83F6F4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2E3FE-8416-9F92-8436-E7B61C4336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7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21B7-ABA9-C7B5-AE72-343AAECC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Synapse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CF517-F17D-907F-A131-110806305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Traditional Data Warehouse</a:t>
            </a:r>
          </a:p>
          <a:p>
            <a:r>
              <a:rPr lang="en-IN" dirty="0">
                <a:highlight>
                  <a:srgbClr val="FFFF00"/>
                </a:highlight>
              </a:rPr>
              <a:t>Advanced Data Warehouse</a:t>
            </a:r>
          </a:p>
          <a:p>
            <a:r>
              <a:rPr lang="en-IN" dirty="0"/>
              <a:t>ETL</a:t>
            </a:r>
          </a:p>
          <a:p>
            <a:r>
              <a:rPr lang="en-IN" dirty="0"/>
              <a:t>ELT</a:t>
            </a:r>
          </a:p>
          <a:p>
            <a:r>
              <a:rPr lang="en-IN" dirty="0"/>
              <a:t>Machine Learning</a:t>
            </a:r>
          </a:p>
          <a:p>
            <a:r>
              <a:rPr lang="en-IN" dirty="0"/>
              <a:t>Pipelines</a:t>
            </a:r>
          </a:p>
        </p:txBody>
      </p:sp>
    </p:spTree>
    <p:extLst>
      <p:ext uri="{BB962C8B-B14F-4D97-AF65-F5344CB8AC3E}">
        <p14:creationId xmlns:p14="http://schemas.microsoft.com/office/powerpoint/2010/main" val="2496578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7256-F117-5207-3338-D47F1951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Data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A180-1306-30AE-045D-168AC16C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Oracle Exadata</a:t>
            </a:r>
          </a:p>
          <a:p>
            <a:r>
              <a:rPr lang="en-IN" dirty="0"/>
              <a:t>IBM DB2</a:t>
            </a:r>
          </a:p>
          <a:p>
            <a:r>
              <a:rPr lang="en-IN" dirty="0"/>
              <a:t>Teradata</a:t>
            </a:r>
          </a:p>
          <a:p>
            <a:r>
              <a:rPr lang="en-IN" dirty="0"/>
              <a:t>Netezza</a:t>
            </a:r>
          </a:p>
          <a:p>
            <a:r>
              <a:rPr lang="en-IN" dirty="0"/>
              <a:t>Expert in handling the OLAP data</a:t>
            </a:r>
          </a:p>
          <a:p>
            <a:r>
              <a:rPr lang="en-IN" dirty="0">
                <a:highlight>
                  <a:srgbClr val="00FF00"/>
                </a:highlight>
              </a:rPr>
              <a:t>Tabular data with Schema</a:t>
            </a:r>
          </a:p>
          <a:p>
            <a:r>
              <a:rPr lang="en-IN" dirty="0">
                <a:highlight>
                  <a:srgbClr val="FFFF00"/>
                </a:highlight>
              </a:rPr>
              <a:t>ETL – Structured, Unstructured, Semi-Structured – to convert this data</a:t>
            </a:r>
          </a:p>
        </p:txBody>
      </p:sp>
    </p:spTree>
    <p:extLst>
      <p:ext uri="{BB962C8B-B14F-4D97-AF65-F5344CB8AC3E}">
        <p14:creationId xmlns:p14="http://schemas.microsoft.com/office/powerpoint/2010/main" val="270487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A11B-6995-23D7-A490-AF889DDD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2BE5-6565-A785-2003-E0F16D85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Replication = 1+2</a:t>
            </a:r>
          </a:p>
          <a:p>
            <a:r>
              <a:rPr lang="en-IN" dirty="0"/>
              <a:t>To support this – Medallion architecture</a:t>
            </a:r>
          </a:p>
          <a:p>
            <a:r>
              <a:rPr lang="en-IN" dirty="0"/>
              <a:t>Bronze Data</a:t>
            </a:r>
          </a:p>
          <a:p>
            <a:r>
              <a:rPr lang="en-IN" dirty="0"/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391927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C96D-EF50-0424-78F9-622C443F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26DE-66AE-3875-C984-4930317DA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Stateless Application</a:t>
            </a:r>
          </a:p>
          <a:p>
            <a:r>
              <a:rPr lang="en-IN" dirty="0"/>
              <a:t>Stateful Application</a:t>
            </a:r>
          </a:p>
          <a:p>
            <a:pPr marL="0" indent="0">
              <a:buNone/>
            </a:pPr>
            <a:r>
              <a:rPr lang="en-IN" dirty="0"/>
              <a:t>We don’t have any proper medium to handle the data properly</a:t>
            </a:r>
          </a:p>
          <a:p>
            <a:pPr marL="0" indent="0">
              <a:buNone/>
            </a:pPr>
            <a:r>
              <a:rPr lang="en-IN" dirty="0"/>
              <a:t>2003(Data Ware Housing)</a:t>
            </a:r>
          </a:p>
          <a:p>
            <a:pPr marL="0" indent="0">
              <a:buNone/>
            </a:pPr>
            <a:r>
              <a:rPr lang="en-IN" dirty="0"/>
              <a:t>2007(Bigdata)</a:t>
            </a:r>
          </a:p>
          <a:p>
            <a:pPr marL="0" indent="0">
              <a:buNone/>
            </a:pPr>
            <a:r>
              <a:rPr lang="en-IN" dirty="0"/>
              <a:t>Data(less) - &gt; Relational Databases(OTLP)</a:t>
            </a:r>
          </a:p>
        </p:txBody>
      </p:sp>
    </p:spTree>
    <p:extLst>
      <p:ext uri="{BB962C8B-B14F-4D97-AF65-F5344CB8AC3E}">
        <p14:creationId xmlns:p14="http://schemas.microsoft.com/office/powerpoint/2010/main" val="79288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716C-CD3F-3055-59FE-771F067D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OLTP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C5F03-4BF6-EDA7-ADFC-57C084AE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CRUD</a:t>
            </a:r>
          </a:p>
          <a:p>
            <a:r>
              <a:rPr lang="en-IN" dirty="0"/>
              <a:t>Create</a:t>
            </a:r>
          </a:p>
          <a:p>
            <a:r>
              <a:rPr lang="en-IN" dirty="0"/>
              <a:t>Update</a:t>
            </a:r>
          </a:p>
          <a:p>
            <a:r>
              <a:rPr lang="en-IN" dirty="0"/>
              <a:t>Delete</a:t>
            </a:r>
          </a:p>
          <a:p>
            <a:r>
              <a:rPr lang="en-IN" dirty="0"/>
              <a:t>And Read Operations</a:t>
            </a:r>
          </a:p>
          <a:p>
            <a:r>
              <a:rPr lang="en-IN" dirty="0"/>
              <a:t>Banking – CRUD Support – OLTP -  Maximum Volume </a:t>
            </a:r>
            <a:r>
              <a:rPr lang="en-IN" b="1" dirty="0"/>
              <a:t>256 TB – Database – text </a:t>
            </a:r>
          </a:p>
          <a:p>
            <a:r>
              <a:rPr lang="en-IN" b="1" dirty="0"/>
              <a:t>Facebook – 6 months - HIVE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64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6E3F-C784-78A5-5FE5-7F915FCE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B605-1096-4C9C-70DC-C6D5982A0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Amazon – Customer</a:t>
            </a:r>
          </a:p>
          <a:p>
            <a:r>
              <a:rPr lang="en-IN" dirty="0"/>
              <a:t>How huge Customer Count, How huge Products count – to handle both in proper way – OLTP – because of some limitations </a:t>
            </a:r>
          </a:p>
          <a:p>
            <a:r>
              <a:rPr lang="en-IN" dirty="0"/>
              <a:t>Customer - &gt; </a:t>
            </a:r>
            <a:r>
              <a:rPr lang="en-IN" dirty="0">
                <a:solidFill>
                  <a:srgbClr val="FF0000"/>
                </a:solidFill>
              </a:rPr>
              <a:t>Update, Delete, Create </a:t>
            </a:r>
            <a:r>
              <a:rPr lang="en-IN" dirty="0"/>
              <a:t>– Read(how huge it will be)</a:t>
            </a:r>
          </a:p>
          <a:p>
            <a:r>
              <a:rPr lang="en-IN" dirty="0"/>
              <a:t>OLAP = Online Analytical Processing – Expert in analytical Processing</a:t>
            </a:r>
          </a:p>
        </p:txBody>
      </p:sp>
    </p:spTree>
    <p:extLst>
      <p:ext uri="{BB962C8B-B14F-4D97-AF65-F5344CB8AC3E}">
        <p14:creationId xmlns:p14="http://schemas.microsoft.com/office/powerpoint/2010/main" val="157750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396C8-37FB-9ECD-3E33-62CC7206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Database(OLTP)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A14FE-4266-4695-1C38-0D3D69A2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Whatever CRUD(USER) is Doing it will impact the direct data that is available in the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2639B-CDF5-93E3-8EC5-DC4B55B111AC}"/>
              </a:ext>
            </a:extLst>
          </p:cNvPr>
          <p:cNvSpPr/>
          <p:nvPr/>
        </p:nvSpPr>
        <p:spPr>
          <a:xfrm>
            <a:off x="881237" y="3302259"/>
            <a:ext cx="1970934" cy="2008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Presentation Tier</a:t>
            </a:r>
          </a:p>
          <a:p>
            <a:pPr algn="ctr"/>
            <a:r>
              <a:rPr lang="en-IN" dirty="0"/>
              <a:t>User Facing</a:t>
            </a:r>
          </a:p>
          <a:p>
            <a:pPr algn="ctr"/>
            <a:r>
              <a:rPr lang="en-IN" dirty="0"/>
              <a:t>CRUD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1F55C-A3E6-A95A-0DD0-D544798A4A46}"/>
              </a:ext>
            </a:extLst>
          </p:cNvPr>
          <p:cNvSpPr/>
          <p:nvPr/>
        </p:nvSpPr>
        <p:spPr>
          <a:xfrm>
            <a:off x="4566078" y="2905568"/>
            <a:ext cx="3059844" cy="2802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Tier</a:t>
            </a:r>
          </a:p>
          <a:p>
            <a:pPr algn="ctr"/>
            <a:r>
              <a:rPr lang="en-IN" dirty="0"/>
              <a:t>- Brain of your system(Processing Layer)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6F8F2E-5EC2-382D-A159-23534C2FB6C5}"/>
              </a:ext>
            </a:extLst>
          </p:cNvPr>
          <p:cNvSpPr/>
          <p:nvPr/>
        </p:nvSpPr>
        <p:spPr>
          <a:xfrm>
            <a:off x="9221383" y="3302261"/>
            <a:ext cx="1970934" cy="2008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Tier</a:t>
            </a:r>
          </a:p>
          <a:p>
            <a:pPr algn="ctr"/>
            <a:r>
              <a:rPr lang="en-IN" dirty="0"/>
              <a:t>Data Storage and management Layer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AD298CD-6FC0-08F5-5AAC-51318D8C18E7}"/>
              </a:ext>
            </a:extLst>
          </p:cNvPr>
          <p:cNvSpPr/>
          <p:nvPr/>
        </p:nvSpPr>
        <p:spPr>
          <a:xfrm>
            <a:off x="2923237" y="4006031"/>
            <a:ext cx="1642841" cy="615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ANSI SQL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7C3931AB-9B70-8F04-D440-2BFC9A9A3AA8}"/>
              </a:ext>
            </a:extLst>
          </p:cNvPr>
          <p:cNvSpPr/>
          <p:nvPr/>
        </p:nvSpPr>
        <p:spPr>
          <a:xfrm>
            <a:off x="7603220" y="4084407"/>
            <a:ext cx="1640865" cy="5375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284277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C27A-DAAE-D8E5-7B63-57F2AD43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D039-DA3D-8EB5-847F-BC13BD84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Warehousing (OLAP) – Large Amount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D43B-EFD0-EE80-AE92-1FE6E9C1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Whatever CRUD(USER) is Doing it will impact the direct data that is available in the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79990A-DF05-61DC-F259-2C4421540AE6}"/>
              </a:ext>
            </a:extLst>
          </p:cNvPr>
          <p:cNvSpPr/>
          <p:nvPr/>
        </p:nvSpPr>
        <p:spPr>
          <a:xfrm>
            <a:off x="881237" y="3302259"/>
            <a:ext cx="1970934" cy="2008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Presentation Tier</a:t>
            </a:r>
          </a:p>
          <a:p>
            <a:pPr algn="ctr"/>
            <a:r>
              <a:rPr lang="en-IN" dirty="0"/>
              <a:t>User Facing</a:t>
            </a:r>
          </a:p>
          <a:p>
            <a:pPr algn="ctr"/>
            <a:r>
              <a:rPr lang="en-IN" dirty="0"/>
              <a:t>CRUD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90604-1E25-4B5F-DACF-72000945095E}"/>
              </a:ext>
            </a:extLst>
          </p:cNvPr>
          <p:cNvSpPr/>
          <p:nvPr/>
        </p:nvSpPr>
        <p:spPr>
          <a:xfrm>
            <a:off x="4566078" y="2905568"/>
            <a:ext cx="3059844" cy="28022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Tier</a:t>
            </a:r>
          </a:p>
          <a:p>
            <a:pPr algn="ctr"/>
            <a:r>
              <a:rPr lang="en-IN" dirty="0"/>
              <a:t>- Brain of your system(Processing Layer)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24D57-C301-C0E1-842B-EF0A8D65FB97}"/>
              </a:ext>
            </a:extLst>
          </p:cNvPr>
          <p:cNvSpPr/>
          <p:nvPr/>
        </p:nvSpPr>
        <p:spPr>
          <a:xfrm>
            <a:off x="9846775" y="2245729"/>
            <a:ext cx="1888814" cy="1183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Tier</a:t>
            </a:r>
          </a:p>
          <a:p>
            <a:pPr algn="ctr"/>
            <a:r>
              <a:rPr lang="en-IN" dirty="0"/>
              <a:t>Data Storage and management Layer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D1E115C-F344-09B1-FC57-D14A305A78BE}"/>
              </a:ext>
            </a:extLst>
          </p:cNvPr>
          <p:cNvSpPr/>
          <p:nvPr/>
        </p:nvSpPr>
        <p:spPr>
          <a:xfrm>
            <a:off x="2923237" y="4006031"/>
            <a:ext cx="1642841" cy="615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ANSI SQL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046B8E37-7A6E-932F-47EE-EB3F92053E85}"/>
              </a:ext>
            </a:extLst>
          </p:cNvPr>
          <p:cNvSpPr/>
          <p:nvPr/>
        </p:nvSpPr>
        <p:spPr>
          <a:xfrm>
            <a:off x="7603220" y="4084407"/>
            <a:ext cx="1640865" cy="5375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Reading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514421-9272-F8A1-8F3D-15A3E6AF247E}"/>
              </a:ext>
            </a:extLst>
          </p:cNvPr>
          <p:cNvSpPr/>
          <p:nvPr/>
        </p:nvSpPr>
        <p:spPr>
          <a:xfrm>
            <a:off x="9339829" y="3905251"/>
            <a:ext cx="1747468" cy="1183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Metadata Layer</a:t>
            </a:r>
          </a:p>
          <a:p>
            <a:pPr algn="ctr"/>
            <a:r>
              <a:rPr lang="en-IN" dirty="0"/>
              <a:t>Smallest Version of your actual data</a:t>
            </a:r>
          </a:p>
        </p:txBody>
      </p:sp>
    </p:spTree>
    <p:extLst>
      <p:ext uri="{BB962C8B-B14F-4D97-AF65-F5344CB8AC3E}">
        <p14:creationId xmlns:p14="http://schemas.microsoft.com/office/powerpoint/2010/main" val="203448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62E6-AEED-5219-00F0-D8F9A587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0DA67-4E6C-F02C-AF16-D335C7DD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Merchants</a:t>
            </a:r>
          </a:p>
          <a:p>
            <a:r>
              <a:rPr lang="en-IN" dirty="0"/>
              <a:t>Customers</a:t>
            </a:r>
          </a:p>
          <a:p>
            <a:r>
              <a:rPr lang="en-IN" dirty="0"/>
              <a:t>Merchants -&gt; Products(Pictures + Price + Quantity)</a:t>
            </a:r>
          </a:p>
          <a:p>
            <a:r>
              <a:rPr lang="en-IN" dirty="0"/>
              <a:t>Customers -&gt; (Products) OLAP + Reviews(OLTP)</a:t>
            </a:r>
          </a:p>
          <a:p>
            <a:r>
              <a:rPr lang="en-IN" dirty="0"/>
              <a:t>Mixed of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11075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8CAD-2135-9BAF-A629-1FDE3982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D3E11-8863-A5CE-86F3-CA6D96EF6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511" y="1825625"/>
            <a:ext cx="10515600" cy="4351338"/>
          </a:xfrm>
        </p:spPr>
        <p:txBody>
          <a:bodyPr/>
          <a:lstStyle/>
          <a:p>
            <a:r>
              <a:rPr lang="en-IN" dirty="0"/>
              <a:t>Extract, Transform and Loading</a:t>
            </a:r>
          </a:p>
          <a:p>
            <a:r>
              <a:rPr lang="en-IN" dirty="0"/>
              <a:t>Data Warehouse = Structured + Schema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A40AD-C7D1-5C59-D408-77D5C22DF09A}"/>
              </a:ext>
            </a:extLst>
          </p:cNvPr>
          <p:cNvSpPr/>
          <p:nvPr/>
        </p:nvSpPr>
        <p:spPr>
          <a:xfrm>
            <a:off x="8610600" y="2563566"/>
            <a:ext cx="2743200" cy="3648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the Converted data in to </a:t>
            </a:r>
          </a:p>
          <a:p>
            <a:pPr algn="ctr"/>
            <a:r>
              <a:rPr lang="en-IN" dirty="0"/>
              <a:t>Data Warehousing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E32BD-F062-7757-2EED-ED4F9493DD4F}"/>
              </a:ext>
            </a:extLst>
          </p:cNvPr>
          <p:cNvSpPr/>
          <p:nvPr/>
        </p:nvSpPr>
        <p:spPr>
          <a:xfrm>
            <a:off x="5198775" y="3429000"/>
            <a:ext cx="2321490" cy="265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Transformation</a:t>
            </a:r>
          </a:p>
          <a:p>
            <a:pPr algn="ctr"/>
            <a:r>
              <a:rPr lang="en-IN" dirty="0"/>
              <a:t>Computing Layer</a:t>
            </a:r>
          </a:p>
          <a:p>
            <a:pPr algn="ctr"/>
            <a:r>
              <a:rPr lang="en-IN" dirty="0"/>
              <a:t>Conditions</a:t>
            </a:r>
          </a:p>
          <a:p>
            <a:pPr algn="ctr"/>
            <a:r>
              <a:rPr lang="en-IN" dirty="0"/>
              <a:t>Unstructured -&gt; Structured</a:t>
            </a:r>
          </a:p>
          <a:p>
            <a:pPr algn="ctr"/>
            <a:r>
              <a:rPr lang="en-IN" dirty="0"/>
              <a:t>Semi Structured -&gt; Structured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7B8D8-EB5A-E0C2-723F-5DDCFB9C5928}"/>
              </a:ext>
            </a:extLst>
          </p:cNvPr>
          <p:cNvSpPr/>
          <p:nvPr/>
        </p:nvSpPr>
        <p:spPr>
          <a:xfrm>
            <a:off x="1801163" y="3429000"/>
            <a:ext cx="2321490" cy="265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ingestion</a:t>
            </a:r>
          </a:p>
          <a:p>
            <a:pPr algn="ctr"/>
            <a:r>
              <a:rPr lang="en-IN" dirty="0"/>
              <a:t>Extraction</a:t>
            </a:r>
          </a:p>
          <a:p>
            <a:pPr algn="ctr"/>
            <a:r>
              <a:rPr lang="en-IN" dirty="0"/>
              <a:t>Structured</a:t>
            </a:r>
          </a:p>
          <a:p>
            <a:pPr algn="ctr"/>
            <a:r>
              <a:rPr lang="en-IN" dirty="0"/>
              <a:t>Un Structured</a:t>
            </a:r>
          </a:p>
          <a:p>
            <a:pPr algn="ctr"/>
            <a:r>
              <a:rPr lang="en-IN" dirty="0"/>
              <a:t>Semi Structured</a:t>
            </a:r>
          </a:p>
        </p:txBody>
      </p:sp>
    </p:spTree>
    <p:extLst>
      <p:ext uri="{BB962C8B-B14F-4D97-AF65-F5344CB8AC3E}">
        <p14:creationId xmlns:p14="http://schemas.microsoft.com/office/powerpoint/2010/main" val="233106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BA35-3189-99FE-214A-4D0A1536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Medallion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07D62-58B6-D55A-918F-3DCAE35D2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2B1C38EB-F4CC-037F-F602-42B4C42EF97E}"/>
              </a:ext>
            </a:extLst>
          </p:cNvPr>
          <p:cNvSpPr/>
          <p:nvPr/>
        </p:nvSpPr>
        <p:spPr>
          <a:xfrm>
            <a:off x="1042321" y="2999042"/>
            <a:ext cx="2477882" cy="2638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Bronze Layer</a:t>
            </a:r>
          </a:p>
          <a:p>
            <a:pPr algn="ctr"/>
            <a:r>
              <a:rPr lang="en-IN" dirty="0"/>
              <a:t>Data as it is in Raw Format</a:t>
            </a:r>
          </a:p>
          <a:p>
            <a:pPr algn="ctr"/>
            <a:r>
              <a:rPr lang="en-IN" dirty="0"/>
              <a:t>Direct Client(Raw Format)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3997CEB-1BD9-3194-8E96-462212702467}"/>
              </a:ext>
            </a:extLst>
          </p:cNvPr>
          <p:cNvSpPr/>
          <p:nvPr/>
        </p:nvSpPr>
        <p:spPr>
          <a:xfrm>
            <a:off x="5060391" y="2999042"/>
            <a:ext cx="2477882" cy="2638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Silver Layer</a:t>
            </a:r>
          </a:p>
          <a:p>
            <a:pPr algn="ctr"/>
            <a:r>
              <a:rPr lang="en-IN" dirty="0"/>
              <a:t>As per our analytical purpose – Keep only required data</a:t>
            </a:r>
          </a:p>
          <a:p>
            <a:pPr algn="ctr"/>
            <a:r>
              <a:rPr lang="en-IN" dirty="0"/>
              <a:t>Cleansed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C9AFC60-2528-CA7F-1D6F-641E869102A9}"/>
              </a:ext>
            </a:extLst>
          </p:cNvPr>
          <p:cNvSpPr/>
          <p:nvPr/>
        </p:nvSpPr>
        <p:spPr>
          <a:xfrm>
            <a:off x="8835252" y="2999042"/>
            <a:ext cx="2477882" cy="2638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Gold Layer</a:t>
            </a:r>
          </a:p>
          <a:p>
            <a:pPr algn="ctr"/>
            <a:r>
              <a:rPr lang="en-IN" dirty="0"/>
              <a:t>Converted data – Business intelligence Purpose</a:t>
            </a:r>
          </a:p>
        </p:txBody>
      </p:sp>
    </p:spTree>
    <p:extLst>
      <p:ext uri="{BB962C8B-B14F-4D97-AF65-F5344CB8AC3E}">
        <p14:creationId xmlns:p14="http://schemas.microsoft.com/office/powerpoint/2010/main" val="343348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23FD-4502-FD1F-14F5-A85E684E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86D0-298A-E657-C604-60BDD8DCA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 Storage -&gt; that doesn’t have any limitations on volume and variety</a:t>
            </a:r>
          </a:p>
          <a:p>
            <a:r>
              <a:rPr lang="en-IN" dirty="0"/>
              <a:t>Because of storage cost is cheap</a:t>
            </a:r>
          </a:p>
          <a:p>
            <a:r>
              <a:rPr lang="en-IN" dirty="0"/>
              <a:t>ELT</a:t>
            </a:r>
          </a:p>
        </p:txBody>
      </p:sp>
    </p:spTree>
    <p:extLst>
      <p:ext uri="{BB962C8B-B14F-4D97-AF65-F5344CB8AC3E}">
        <p14:creationId xmlns:p14="http://schemas.microsoft.com/office/powerpoint/2010/main" val="198045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E229-484E-8C6A-AC3E-25F5EBB0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21942-4E0E-6165-ED9D-767311D2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D50EDF-F8F0-F587-6150-EC8665AF2725}"/>
              </a:ext>
            </a:extLst>
          </p:cNvPr>
          <p:cNvSpPr/>
          <p:nvPr/>
        </p:nvSpPr>
        <p:spPr>
          <a:xfrm>
            <a:off x="4268778" y="2757413"/>
            <a:ext cx="2307320" cy="2657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 PB</a:t>
            </a:r>
          </a:p>
          <a:p>
            <a:pPr algn="ctr"/>
            <a:r>
              <a:rPr lang="en-IN" dirty="0"/>
              <a:t>From Customer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C4AB44C-D649-004C-505B-4AE41C21CFDE}"/>
              </a:ext>
            </a:extLst>
          </p:cNvPr>
          <p:cNvSpPr/>
          <p:nvPr/>
        </p:nvSpPr>
        <p:spPr>
          <a:xfrm>
            <a:off x="1748258" y="3333261"/>
            <a:ext cx="2411551" cy="13360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Extract and Loading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B3CFE-D337-D06A-5899-3610F6D01957}"/>
              </a:ext>
            </a:extLst>
          </p:cNvPr>
          <p:cNvSpPr/>
          <p:nvPr/>
        </p:nvSpPr>
        <p:spPr>
          <a:xfrm>
            <a:off x="7699356" y="2757413"/>
            <a:ext cx="2307320" cy="2657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2GB – take only 2gb of data from source – Transform it and USE</a:t>
            </a:r>
          </a:p>
        </p:txBody>
      </p:sp>
    </p:spTree>
    <p:extLst>
      <p:ext uri="{BB962C8B-B14F-4D97-AF65-F5344CB8AC3E}">
        <p14:creationId xmlns:p14="http://schemas.microsoft.com/office/powerpoint/2010/main" val="154141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BF7B-E347-CFBC-BDFE-F93B0012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Synapse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8636-BCA1-62D3-04A3-F016F4C6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Azure Synapse</a:t>
            </a:r>
            <a:r>
              <a:rPr lang="en-US" dirty="0"/>
              <a:t> is an enterprise analytics service that accelerates time to insight across data warehouses and big data systems. </a:t>
            </a:r>
          </a:p>
          <a:p>
            <a:r>
              <a:rPr lang="en-US" dirty="0"/>
              <a:t>Azure Synapse brings together the best of </a:t>
            </a:r>
            <a:r>
              <a:rPr lang="en-US" b="1" dirty="0"/>
              <a:t>SQL</a:t>
            </a:r>
            <a:r>
              <a:rPr lang="en-US" dirty="0"/>
              <a:t> technologies used in enterprise data warehousing, </a:t>
            </a:r>
            <a:r>
              <a:rPr lang="en-US" b="1" dirty="0"/>
              <a:t>Spark</a:t>
            </a:r>
            <a:r>
              <a:rPr lang="en-US" dirty="0"/>
              <a:t> technologies used for big data, </a:t>
            </a:r>
            <a:r>
              <a:rPr lang="en-US" b="1" dirty="0"/>
              <a:t>Data Explorer</a:t>
            </a:r>
            <a:r>
              <a:rPr lang="en-US" dirty="0"/>
              <a:t> for log and time series analytics, </a:t>
            </a:r>
            <a:r>
              <a:rPr lang="en-US" b="1" dirty="0"/>
              <a:t>Pipelines</a:t>
            </a:r>
            <a:r>
              <a:rPr lang="en-US" dirty="0"/>
              <a:t> for data integration and ETL/ELT, and deep integration with other Azure services such as </a:t>
            </a:r>
            <a:r>
              <a:rPr lang="en-US" b="1" dirty="0"/>
              <a:t>Power BI</a:t>
            </a:r>
            <a:r>
              <a:rPr lang="en-US" dirty="0"/>
              <a:t>, </a:t>
            </a:r>
            <a:r>
              <a:rPr lang="en-US" b="1" dirty="0"/>
              <a:t>Cosmos DB</a:t>
            </a:r>
            <a:r>
              <a:rPr lang="en-US" dirty="0"/>
              <a:t>, and </a:t>
            </a:r>
            <a:r>
              <a:rPr lang="en-US" b="1" dirty="0"/>
              <a:t>AZURE ML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73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A06A-4140-38AC-0AE4-93A150DE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439D5-8258-932D-5111-6944E6366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Synapse Workspace is the top level container in Azure Synapse Analytics</a:t>
            </a:r>
          </a:p>
          <a:p>
            <a:r>
              <a:rPr lang="en-IN" dirty="0"/>
              <a:t>It’s the central environment where all synapse resources live and are managed together</a:t>
            </a:r>
          </a:p>
          <a:p>
            <a:r>
              <a:rPr lang="en-IN" dirty="0"/>
              <a:t>Analytical environment that connects storage, compute, security and tools under one name space.</a:t>
            </a:r>
          </a:p>
        </p:txBody>
      </p:sp>
    </p:spTree>
    <p:extLst>
      <p:ext uri="{BB962C8B-B14F-4D97-AF65-F5344CB8AC3E}">
        <p14:creationId xmlns:p14="http://schemas.microsoft.com/office/powerpoint/2010/main" val="1319676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715F-4734-AB53-894D-9197D20D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83C2-2BB6-B162-AC61-DE110B3A8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To handle the SQL </a:t>
            </a:r>
            <a:r>
              <a:rPr lang="en-IN" dirty="0"/>
              <a:t>– Dedicated SQL Pool and Serverless SQL Pool</a:t>
            </a:r>
          </a:p>
          <a:p>
            <a:r>
              <a:rPr lang="en-IN" dirty="0">
                <a:highlight>
                  <a:srgbClr val="00FF00"/>
                </a:highlight>
              </a:rPr>
              <a:t>To handle the Bigdata workloads </a:t>
            </a:r>
            <a:r>
              <a:rPr lang="en-IN" dirty="0"/>
              <a:t>– Apache Spark Runtime</a:t>
            </a:r>
          </a:p>
          <a:p>
            <a:r>
              <a:rPr lang="en-US" dirty="0"/>
              <a:t>Data Explorer pools can be used to run </a:t>
            </a:r>
            <a:r>
              <a:rPr lang="en-US" dirty="0">
                <a:highlight>
                  <a:srgbClr val="00FF00"/>
                </a:highlight>
              </a:rPr>
              <a:t>near real-time analytics on large volumes of logs and time series data streaming </a:t>
            </a:r>
            <a:r>
              <a:rPr lang="en-US" dirty="0"/>
              <a:t>from applications, websites, IoT devices, and more.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375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CEF1-1738-878D-BED9-21BBCEE7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1084F-5E92-F068-179A-E23735528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Batch Processing </a:t>
            </a:r>
          </a:p>
          <a:p>
            <a:pPr lvl="1"/>
            <a:r>
              <a:rPr lang="en-IN" dirty="0"/>
              <a:t>Example: Project – 2PB – </a:t>
            </a:r>
          </a:p>
          <a:p>
            <a:pPr lvl="1"/>
            <a:r>
              <a:rPr lang="en-IN" dirty="0"/>
              <a:t>before running the if your data volume is huge(pre planned data) how long its going to run</a:t>
            </a:r>
          </a:p>
          <a:p>
            <a:pPr lvl="1"/>
            <a:r>
              <a:rPr lang="en-IN" dirty="0"/>
              <a:t>Suggested – Dedicated Pool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Example – Daily report(00.00 to 23:59) I need to submit to manager meeting around 9am</a:t>
            </a:r>
          </a:p>
          <a:p>
            <a:r>
              <a:rPr lang="en-IN" dirty="0"/>
              <a:t>Stream Processing</a:t>
            </a:r>
          </a:p>
          <a:p>
            <a:pPr lvl="1"/>
            <a:r>
              <a:rPr lang="en-IN" dirty="0"/>
              <a:t>React immediately for events happen in source system – Credit card fraudulent analysis system – Axis -&gt; Accenture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Accenture need to react for whatever the terms and conditions to define the transaction as fraudulent – send the notification to the customer notification</a:t>
            </a:r>
          </a:p>
        </p:txBody>
      </p:sp>
    </p:spTree>
    <p:extLst>
      <p:ext uri="{BB962C8B-B14F-4D97-AF65-F5344CB8AC3E}">
        <p14:creationId xmlns:p14="http://schemas.microsoft.com/office/powerpoint/2010/main" val="3817638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B803-3B69-DFCB-9DDD-4902607F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FABA1-8E75-ABBB-A1C9-FA91E6653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2671"/>
            <a:ext cx="10515600" cy="3517245"/>
          </a:xfrm>
        </p:spPr>
      </p:pic>
    </p:spTree>
    <p:extLst>
      <p:ext uri="{BB962C8B-B14F-4D97-AF65-F5344CB8AC3E}">
        <p14:creationId xmlns:p14="http://schemas.microsoft.com/office/powerpoint/2010/main" val="4226242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CBB4-4EF4-7A25-B680-84D5CC1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CA543-D45B-662D-8CA2-5DC33CF44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CA79F53E-C23A-5BCC-4896-06622773E307}"/>
              </a:ext>
            </a:extLst>
          </p:cNvPr>
          <p:cNvSpPr/>
          <p:nvPr/>
        </p:nvSpPr>
        <p:spPr>
          <a:xfrm>
            <a:off x="1710354" y="3008518"/>
            <a:ext cx="2596328" cy="235943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Event Hub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2A2211C-3E1A-96C6-07EF-BE0F08770AB6}"/>
              </a:ext>
            </a:extLst>
          </p:cNvPr>
          <p:cNvSpPr/>
          <p:nvPr/>
        </p:nvSpPr>
        <p:spPr>
          <a:xfrm>
            <a:off x="5288992" y="3079586"/>
            <a:ext cx="2596328" cy="235943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Synapse</a:t>
            </a:r>
          </a:p>
          <a:p>
            <a:pPr algn="ctr"/>
            <a:r>
              <a:rPr lang="en-IN" dirty="0"/>
              <a:t>Predefined Terms and Conditions</a:t>
            </a:r>
          </a:p>
          <a:p>
            <a:pPr algn="ctr"/>
            <a:r>
              <a:rPr lang="en-IN" dirty="0"/>
              <a:t>(Pipeline)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A2DCFBC1-7753-00D8-85E4-26C9021F24EC}"/>
              </a:ext>
            </a:extLst>
          </p:cNvPr>
          <p:cNvSpPr/>
          <p:nvPr/>
        </p:nvSpPr>
        <p:spPr>
          <a:xfrm>
            <a:off x="8923296" y="3216981"/>
            <a:ext cx="1897894" cy="167126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Event Notification</a:t>
            </a:r>
          </a:p>
        </p:txBody>
      </p:sp>
    </p:spTree>
    <p:extLst>
      <p:ext uri="{BB962C8B-B14F-4D97-AF65-F5344CB8AC3E}">
        <p14:creationId xmlns:p14="http://schemas.microsoft.com/office/powerpoint/2010/main" val="3595407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C99E-AAEA-3F27-4872-59BEFB31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F78FE-1665-5A6C-7BDD-0B2F6CBC7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Engineer</a:t>
            </a:r>
          </a:p>
          <a:p>
            <a:r>
              <a:rPr lang="en-IN" dirty="0"/>
              <a:t>Data Scientist</a:t>
            </a:r>
          </a:p>
          <a:p>
            <a:r>
              <a:rPr lang="en-IN" dirty="0"/>
              <a:t>Data Analytical Engineer</a:t>
            </a:r>
          </a:p>
          <a:p>
            <a:r>
              <a:rPr lang="en-IN" dirty="0"/>
              <a:t>ETL Engineer</a:t>
            </a:r>
          </a:p>
        </p:txBody>
      </p:sp>
    </p:spTree>
    <p:extLst>
      <p:ext uri="{BB962C8B-B14F-4D97-AF65-F5344CB8AC3E}">
        <p14:creationId xmlns:p14="http://schemas.microsoft.com/office/powerpoint/2010/main" val="2911212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A8A2-D6E1-4951-181E-5852846A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6DF6-75A1-29E4-F649-C2D55BABF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CDC</a:t>
            </a:r>
          </a:p>
        </p:txBody>
      </p:sp>
    </p:spTree>
    <p:extLst>
      <p:ext uri="{BB962C8B-B14F-4D97-AF65-F5344CB8AC3E}">
        <p14:creationId xmlns:p14="http://schemas.microsoft.com/office/powerpoint/2010/main" val="3434444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7BF4-5020-DB62-BE7E-C615F80B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92EA-F02D-D696-4F0B-08665E04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 PB</a:t>
            </a:r>
          </a:p>
          <a:p>
            <a:r>
              <a:rPr lang="en-IN" dirty="0"/>
              <a:t>Serverless = per TB - Transactions logs from Axis – we don’t know when customer will do the transactions and transactions are light weighted</a:t>
            </a:r>
          </a:p>
          <a:p>
            <a:r>
              <a:rPr lang="en-IN" dirty="0"/>
              <a:t>Scenario = Some kind of pool that is not charging depends on time</a:t>
            </a:r>
          </a:p>
          <a:p>
            <a:r>
              <a:rPr lang="en-IN" dirty="0"/>
              <a:t>Dedicated = </a:t>
            </a:r>
            <a:r>
              <a:rPr lang="en-IN" b="1" dirty="0"/>
              <a:t>Est. cost per hour</a:t>
            </a:r>
          </a:p>
          <a:p>
            <a:r>
              <a:rPr lang="en-IN" b="1" dirty="0"/>
              <a:t>Dedicated Pool = Per Hour</a:t>
            </a:r>
          </a:p>
          <a:p>
            <a:r>
              <a:rPr lang="en-IN" b="1" dirty="0"/>
              <a:t>Security issues – analyse the entire company logs – where it goes wrong = 1 PB = Serverless = 2 hours = 33 USD and $1000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221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CC98-F27A-3EF4-DD33-2213380B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F6F1-AE1C-3474-1307-188894FC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Streaming logs – Bigdata</a:t>
            </a:r>
          </a:p>
          <a:p>
            <a:r>
              <a:rPr lang="en-IN" dirty="0">
                <a:highlight>
                  <a:srgbClr val="00FF00"/>
                </a:highlight>
              </a:rPr>
              <a:t>Dedicated Apache Pool – Batch Processing, Stream Processing </a:t>
            </a:r>
          </a:p>
          <a:p>
            <a:r>
              <a:rPr lang="en-IN" dirty="0">
                <a:highlight>
                  <a:srgbClr val="00FF00"/>
                </a:highlight>
              </a:rPr>
              <a:t>Data Explorer - Dedicated</a:t>
            </a:r>
          </a:p>
        </p:txBody>
      </p:sp>
    </p:spTree>
    <p:extLst>
      <p:ext uri="{BB962C8B-B14F-4D97-AF65-F5344CB8AC3E}">
        <p14:creationId xmlns:p14="http://schemas.microsoft.com/office/powerpoint/2010/main" val="862521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76ED-DB85-4925-45EA-F0098709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755C-718A-34B4-48F1-2003534F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D7E79C53-7022-0260-BD3B-0B645398BA15}"/>
              </a:ext>
            </a:extLst>
          </p:cNvPr>
          <p:cNvSpPr/>
          <p:nvPr/>
        </p:nvSpPr>
        <p:spPr>
          <a:xfrm>
            <a:off x="1672451" y="2705297"/>
            <a:ext cx="3065372" cy="194724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Storage Account Gen2</a:t>
            </a:r>
          </a:p>
          <a:p>
            <a:pPr algn="ctr"/>
            <a:r>
              <a:rPr lang="en-IN" dirty="0"/>
              <a:t>1 PB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47C1172-375E-2459-7798-C03759D385D3}"/>
              </a:ext>
            </a:extLst>
          </p:cNvPr>
          <p:cNvSpPr/>
          <p:nvPr/>
        </p:nvSpPr>
        <p:spPr>
          <a:xfrm>
            <a:off x="6704810" y="2705297"/>
            <a:ext cx="3065372" cy="194724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Synapse Analytics</a:t>
            </a:r>
          </a:p>
          <a:p>
            <a:pPr algn="ctr"/>
            <a:r>
              <a:rPr lang="en-IN" dirty="0">
                <a:highlight>
                  <a:srgbClr val="00FF00"/>
                </a:highlight>
              </a:rPr>
              <a:t>To handle the workloads</a:t>
            </a:r>
          </a:p>
          <a:p>
            <a:pPr algn="ctr"/>
            <a:r>
              <a:rPr lang="en-IN" dirty="0"/>
              <a:t>Run the for analytical – your are chargeable for it</a:t>
            </a:r>
          </a:p>
          <a:p>
            <a:pPr algn="ctr"/>
            <a:r>
              <a:rPr lang="en-IN" dirty="0"/>
              <a:t>Dedicated Pool – billing with start whenever you are starting the run time </a:t>
            </a:r>
          </a:p>
        </p:txBody>
      </p:sp>
    </p:spTree>
    <p:extLst>
      <p:ext uri="{BB962C8B-B14F-4D97-AF65-F5344CB8AC3E}">
        <p14:creationId xmlns:p14="http://schemas.microsoft.com/office/powerpoint/2010/main" val="199860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856</Words>
  <Application>Microsoft Office PowerPoint</Application>
  <PresentationFormat>Widescreen</PresentationFormat>
  <Paragraphs>144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Synapse Analytics</vt:lpstr>
      <vt:lpstr>Traditional Data Warehousing</vt:lpstr>
      <vt:lpstr>PowerPoint Presentation</vt:lpstr>
      <vt:lpstr>Application</vt:lpstr>
      <vt:lpstr>OLTP</vt:lpstr>
      <vt:lpstr>OLAP</vt:lpstr>
      <vt:lpstr>Database(OLTP)</vt:lpstr>
      <vt:lpstr>Data Warehousing (OLAP) – Large Amount of data</vt:lpstr>
      <vt:lpstr>Amazon</vt:lpstr>
      <vt:lpstr>ELT Process</vt:lpstr>
      <vt:lpstr>Medallion Architecture</vt:lpstr>
      <vt:lpstr>Cloud</vt:lpstr>
      <vt:lpstr>ELT</vt:lpstr>
      <vt:lpstr>Azure Synapse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Karthick Selvam</dc:creator>
  <cp:lastModifiedBy>Karthick Selvam</cp:lastModifiedBy>
  <cp:revision>1</cp:revision>
  <dcterms:created xsi:type="dcterms:W3CDTF">2025-12-08T04:41:51Z</dcterms:created>
  <dcterms:modified xsi:type="dcterms:W3CDTF">2025-12-08T07:26:44Z</dcterms:modified>
</cp:coreProperties>
</file>